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nu Root"/>
          <p:cNvSpPr txBox="1"/>
          <p:nvPr/>
        </p:nvSpPr>
        <p:spPr>
          <a:xfrm>
            <a:off x="4114800" y="182880"/>
            <a:ext cx="39624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60A5FA"/>
            </a:solidFill>
          </a:ln>
        </p:spPr>
        <p:txBody>
          <a:bodyPr wrap="square"/>
          <a:lstStyle/>
          <a:p>
            <a:r>
              <a:rPr lang="ko-KR" sz="2200" b="1">
                <a:solidFill>
                  <a:srgbClr val="0F172A"/>
                </a:solidFill>
              </a:rPr>
              <a:t>MDMS MVP 웹 메뉴</a:t>
            </a:r>
            <a:endParaRPr lang="ko-KR"/>
          </a:p>
        </p:txBody>
      </p:sp>
      <p:sp>
        <p:nvSpPr>
          <p:cNvPr id="3" name="Primary 메뉴"/>
          <p:cNvSpPr txBox="1"/>
          <p:nvPr/>
        </p:nvSpPr>
        <p:spPr>
          <a:xfrm>
            <a:off x="411480" y="914400"/>
            <a:ext cx="246888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60A5FA"/>
            </a:solidFill>
          </a:ln>
        </p:spPr>
        <p:txBody>
          <a:bodyPr wrap="square"/>
          <a:lstStyle/>
          <a:p>
            <a:r>
              <a:rPr lang="ko-KR" sz="1700" b="1">
                <a:solidFill>
                  <a:srgbClr val="0F172A"/>
                </a:solidFill>
              </a:rPr>
              <a:t>Primary 메뉴</a:t>
            </a:r>
            <a:endParaRPr lang="ko-KR"/>
          </a:p>
        </p:txBody>
      </p:sp>
      <p:sp>
        <p:nvSpPr>
          <p:cNvPr id="4" name="Grouped 메뉴"/>
          <p:cNvSpPr txBox="1"/>
          <p:nvPr/>
        </p:nvSpPr>
        <p:spPr>
          <a:xfrm>
            <a:off x="3954780" y="914400"/>
            <a:ext cx="295656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60A5FA"/>
            </a:solidFill>
          </a:ln>
        </p:spPr>
        <p:txBody>
          <a:bodyPr wrap="square"/>
          <a:lstStyle/>
          <a:p>
            <a:r>
              <a:rPr lang="ko-KR" sz="1700" b="1">
                <a:solidFill>
                  <a:srgbClr val="0F172A"/>
                </a:solidFill>
              </a:rPr>
              <a:t>Grouped 메뉴</a:t>
            </a:r>
            <a:endParaRPr lang="ko-KR"/>
          </a:p>
        </p:txBody>
      </p:sp>
      <p:sp>
        <p:nvSpPr>
          <p:cNvPr id="5" name="공통 유틸리티"/>
          <p:cNvSpPr txBox="1"/>
          <p:nvPr/>
        </p:nvSpPr>
        <p:spPr>
          <a:xfrm>
            <a:off x="9639300" y="914400"/>
            <a:ext cx="185928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60A5FA"/>
            </a:solidFill>
          </a:ln>
        </p:spPr>
        <p:txBody>
          <a:bodyPr wrap="square"/>
          <a:lstStyle/>
          <a:p>
            <a:r>
              <a:rPr lang="ko-KR" sz="1700" b="1">
                <a:solidFill>
                  <a:srgbClr val="0F172A"/>
                </a:solidFill>
              </a:rPr>
              <a:t>공통 유틸리티</a:t>
            </a:r>
            <a:endParaRPr lang="ko-KR"/>
          </a:p>
        </p:txBody>
      </p:sp>
      <p:sp>
        <p:nvSpPr>
          <p:cNvPr id="6" name="대시보드"/>
          <p:cNvSpPr txBox="1"/>
          <p:nvPr/>
        </p:nvSpPr>
        <p:spPr>
          <a:xfrm>
            <a:off x="594360" y="155448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대시보드</a:t>
            </a:r>
            <a:endParaRPr lang="ko-KR"/>
          </a:p>
        </p:txBody>
      </p:sp>
      <p:sp>
        <p:nvSpPr>
          <p:cNvPr id="7" name="VEE 예외"/>
          <p:cNvSpPr txBox="1"/>
          <p:nvPr/>
        </p:nvSpPr>
        <p:spPr>
          <a:xfrm>
            <a:off x="594360" y="196596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VEE 예외</a:t>
            </a:r>
            <a:endParaRPr lang="ko-KR"/>
          </a:p>
        </p:txBody>
      </p:sp>
      <p:sp>
        <p:nvSpPr>
          <p:cNvPr id="8" name="VEE 재평가 요청"/>
          <p:cNvSpPr txBox="1"/>
          <p:nvPr/>
        </p:nvSpPr>
        <p:spPr>
          <a:xfrm>
            <a:off x="594360" y="237744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VEE 재평가 요청</a:t>
            </a:r>
            <a:endParaRPr lang="ko-KR"/>
          </a:p>
        </p:txBody>
      </p:sp>
      <p:sp>
        <p:nvSpPr>
          <p:cNvPr id="9" name="청구 내보내기"/>
          <p:cNvSpPr txBox="1"/>
          <p:nvPr/>
        </p:nvSpPr>
        <p:spPr>
          <a:xfrm>
            <a:off x="594360" y="278892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청구 내보내기</a:t>
            </a:r>
            <a:endParaRPr lang="ko-KR"/>
          </a:p>
        </p:txBody>
      </p:sp>
      <p:sp>
        <p:nvSpPr>
          <p:cNvPr id="10" name="HES"/>
          <p:cNvSpPr txBox="1"/>
          <p:nvPr/>
        </p:nvSpPr>
        <p:spPr>
          <a:xfrm>
            <a:off x="594360" y="320040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HES</a:t>
            </a:r>
            <a:endParaRPr lang="ko-KR"/>
          </a:p>
        </p:txBody>
      </p:sp>
      <p:sp>
        <p:nvSpPr>
          <p:cNvPr id="11" name="마스터 데이터"/>
          <p:cNvSpPr txBox="1"/>
          <p:nvPr/>
        </p:nvSpPr>
        <p:spPr>
          <a:xfrm>
            <a:off x="594360" y="361188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마스터 데이터</a:t>
            </a:r>
            <a:endParaRPr lang="ko-KR"/>
          </a:p>
        </p:txBody>
      </p:sp>
      <p:sp>
        <p:nvSpPr>
          <p:cNvPr id="12" name="운영 이벤트"/>
          <p:cNvSpPr txBox="1"/>
          <p:nvPr/>
        </p:nvSpPr>
        <p:spPr>
          <a:xfrm>
            <a:off x="594360" y="402336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50">
                <a:solidFill>
                  <a:srgbClr val="0F172A"/>
                </a:solidFill>
              </a:rPr>
              <a:t>운영 이벤트</a:t>
            </a:r>
            <a:endParaRPr lang="ko-KR"/>
          </a:p>
        </p:txBody>
      </p:sp>
      <p:sp>
        <p:nvSpPr>
          <p:cNvPr id="13" name="계측"/>
          <p:cNvSpPr txBox="1"/>
          <p:nvPr/>
        </p:nvSpPr>
        <p:spPr>
          <a:xfrm>
            <a:off x="3200400" y="1554480"/>
            <a:ext cx="12192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/>
          <a:lstStyle/>
          <a:p>
            <a:r>
              <a:rPr lang="ko-KR" sz="1550" b="1">
                <a:solidFill>
                  <a:srgbClr val="0F172A"/>
                </a:solidFill>
              </a:rPr>
              <a:t>계측</a:t>
            </a:r>
            <a:endParaRPr lang="ko-KR"/>
          </a:p>
        </p:txBody>
      </p:sp>
      <p:sp>
        <p:nvSpPr>
          <p:cNvPr id="14" name="적재 배치"/>
          <p:cNvSpPr txBox="1"/>
          <p:nvPr/>
        </p:nvSpPr>
        <p:spPr>
          <a:xfrm>
            <a:off x="3175000" y="196596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적재 배치</a:t>
            </a:r>
            <a:endParaRPr lang="ko-KR"/>
          </a:p>
        </p:txBody>
      </p:sp>
      <p:sp>
        <p:nvSpPr>
          <p:cNvPr id="15" name="원시 검침"/>
          <p:cNvSpPr txBox="1"/>
          <p:nvPr/>
        </p:nvSpPr>
        <p:spPr>
          <a:xfrm>
            <a:off x="3175000" y="232664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원시 검침</a:t>
            </a:r>
            <a:endParaRPr lang="ko-KR"/>
          </a:p>
        </p:txBody>
      </p:sp>
      <p:sp>
        <p:nvSpPr>
          <p:cNvPr id="16" name="원시 이벤트"/>
          <p:cNvSpPr txBox="1"/>
          <p:nvPr/>
        </p:nvSpPr>
        <p:spPr>
          <a:xfrm>
            <a:off x="3175000" y="268732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원시 이벤트</a:t>
            </a:r>
            <a:endParaRPr lang="ko-KR"/>
          </a:p>
        </p:txBody>
      </p:sp>
      <p:sp>
        <p:nvSpPr>
          <p:cNvPr id="17" name="표준 계측"/>
          <p:cNvSpPr txBox="1"/>
          <p:nvPr/>
        </p:nvSpPr>
        <p:spPr>
          <a:xfrm>
            <a:off x="3175000" y="304800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표준 계측</a:t>
            </a:r>
            <a:endParaRPr lang="ko-KR"/>
          </a:p>
        </p:txBody>
      </p:sp>
      <p:sp>
        <p:nvSpPr>
          <p:cNvPr id="18" name="최종 계측"/>
          <p:cNvSpPr txBox="1"/>
          <p:nvPr/>
        </p:nvSpPr>
        <p:spPr>
          <a:xfrm>
            <a:off x="3175000" y="340868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최종 계측</a:t>
            </a:r>
            <a:endParaRPr lang="ko-KR"/>
          </a:p>
        </p:txBody>
      </p:sp>
      <p:sp>
        <p:nvSpPr>
          <p:cNvPr id="19" name="정산"/>
          <p:cNvSpPr txBox="1"/>
          <p:nvPr/>
        </p:nvSpPr>
        <p:spPr>
          <a:xfrm>
            <a:off x="4663440" y="1554480"/>
            <a:ext cx="12192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/>
          <a:lstStyle/>
          <a:p>
            <a:r>
              <a:rPr lang="ko-KR" sz="1550" b="1">
                <a:solidFill>
                  <a:srgbClr val="0F172A"/>
                </a:solidFill>
              </a:rPr>
              <a:t>정산</a:t>
            </a:r>
            <a:endParaRPr lang="ko-KR"/>
          </a:p>
        </p:txBody>
      </p:sp>
      <p:sp>
        <p:nvSpPr>
          <p:cNvPr id="20" name="사용량"/>
          <p:cNvSpPr txBox="1"/>
          <p:nvPr/>
        </p:nvSpPr>
        <p:spPr>
          <a:xfrm>
            <a:off x="4638040" y="196596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사용량</a:t>
            </a:r>
            <a:endParaRPr lang="ko-KR"/>
          </a:p>
        </p:txBody>
      </p:sp>
      <p:sp>
        <p:nvSpPr>
          <p:cNvPr id="21" name="청구 결정값"/>
          <p:cNvSpPr txBox="1"/>
          <p:nvPr/>
        </p:nvSpPr>
        <p:spPr>
          <a:xfrm>
            <a:off x="4638040" y="232664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청구 결정값</a:t>
            </a:r>
            <a:endParaRPr lang="ko-KR"/>
          </a:p>
        </p:txBody>
      </p:sp>
      <p:sp>
        <p:nvSpPr>
          <p:cNvPr id="22" name="청구 금액"/>
          <p:cNvSpPr txBox="1"/>
          <p:nvPr/>
        </p:nvSpPr>
        <p:spPr>
          <a:xfrm>
            <a:off x="4638040" y="268732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청구 금액</a:t>
            </a:r>
            <a:endParaRPr lang="ko-KR"/>
          </a:p>
        </p:txBody>
      </p:sp>
      <p:sp>
        <p:nvSpPr>
          <p:cNvPr id="23" name="보정"/>
          <p:cNvSpPr txBox="1"/>
          <p:nvPr/>
        </p:nvSpPr>
        <p:spPr>
          <a:xfrm>
            <a:off x="6126480" y="1554480"/>
            <a:ext cx="12192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/>
          <a:lstStyle/>
          <a:p>
            <a:r>
              <a:rPr lang="ko-KR" sz="1550" b="1">
                <a:solidFill>
                  <a:srgbClr val="0F172A"/>
                </a:solidFill>
              </a:rPr>
              <a:t>보정</a:t>
            </a:r>
            <a:endParaRPr lang="ko-KR"/>
          </a:p>
        </p:txBody>
      </p:sp>
      <p:sp>
        <p:nvSpPr>
          <p:cNvPr id="24" name="추정 감사"/>
          <p:cNvSpPr txBox="1"/>
          <p:nvPr/>
        </p:nvSpPr>
        <p:spPr>
          <a:xfrm>
            <a:off x="6101080" y="196596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추정 감사</a:t>
            </a:r>
            <a:endParaRPr lang="ko-KR"/>
          </a:p>
        </p:txBody>
      </p:sp>
      <p:sp>
        <p:nvSpPr>
          <p:cNvPr id="25" name="수동 보정"/>
          <p:cNvSpPr txBox="1"/>
          <p:nvPr/>
        </p:nvSpPr>
        <p:spPr>
          <a:xfrm>
            <a:off x="6101080" y="232664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수동 보정</a:t>
            </a:r>
            <a:endParaRPr lang="ko-KR"/>
          </a:p>
        </p:txBody>
      </p:sp>
      <p:sp>
        <p:nvSpPr>
          <p:cNvPr id="26" name="오류 큐"/>
          <p:cNvSpPr txBox="1"/>
          <p:nvPr/>
        </p:nvSpPr>
        <p:spPr>
          <a:xfrm>
            <a:off x="6101080" y="268732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오류 큐</a:t>
            </a:r>
            <a:endParaRPr lang="ko-KR"/>
          </a:p>
        </p:txBody>
      </p:sp>
      <p:sp>
        <p:nvSpPr>
          <p:cNvPr id="27" name="운영"/>
          <p:cNvSpPr txBox="1"/>
          <p:nvPr/>
        </p:nvSpPr>
        <p:spPr>
          <a:xfrm>
            <a:off x="7589520" y="1554480"/>
            <a:ext cx="12192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</a:ln>
        </p:spPr>
        <p:txBody>
          <a:bodyPr wrap="square"/>
          <a:lstStyle/>
          <a:p>
            <a:r>
              <a:rPr lang="ko-KR" sz="1550" b="1">
                <a:solidFill>
                  <a:srgbClr val="0F172A"/>
                </a:solidFill>
              </a:rPr>
              <a:t>운영</a:t>
            </a:r>
            <a:endParaRPr lang="ko-KR"/>
          </a:p>
        </p:txBody>
      </p:sp>
      <p:sp>
        <p:nvSpPr>
          <p:cNvPr id="28" name="어댑터"/>
          <p:cNvSpPr txBox="1"/>
          <p:nvPr/>
        </p:nvSpPr>
        <p:spPr>
          <a:xfrm>
            <a:off x="7564120" y="1965960"/>
            <a:ext cx="12700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20">
                <a:solidFill>
                  <a:srgbClr val="0F172A"/>
                </a:solidFill>
              </a:rPr>
              <a:t>어댑터</a:t>
            </a:r>
            <a:endParaRPr lang="ko-KR"/>
          </a:p>
        </p:txBody>
      </p:sp>
      <p:sp>
        <p:nvSpPr>
          <p:cNvPr id="29" name="언어 전환"/>
          <p:cNvSpPr txBox="1"/>
          <p:nvPr/>
        </p:nvSpPr>
        <p:spPr>
          <a:xfrm>
            <a:off x="9517380" y="167386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20">
                <a:solidFill>
                  <a:srgbClr val="0F172A"/>
                </a:solidFill>
              </a:rPr>
              <a:t>언어 전환</a:t>
            </a:r>
            <a:endParaRPr lang="ko-KR"/>
          </a:p>
        </p:txBody>
      </p:sp>
      <p:sp>
        <p:nvSpPr>
          <p:cNvPr id="30" name="로그인 상태 표시"/>
          <p:cNvSpPr txBox="1"/>
          <p:nvPr/>
        </p:nvSpPr>
        <p:spPr>
          <a:xfrm>
            <a:off x="9517380" y="208534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20">
                <a:solidFill>
                  <a:srgbClr val="0F172A"/>
                </a:solidFill>
              </a:rPr>
              <a:t>로그인 상태 표시</a:t>
            </a:r>
            <a:endParaRPr lang="ko-KR"/>
          </a:p>
        </p:txBody>
      </p:sp>
      <p:sp>
        <p:nvSpPr>
          <p:cNvPr id="31" name="로그인 / 로그아웃"/>
          <p:cNvSpPr txBox="1"/>
          <p:nvPr/>
        </p:nvSpPr>
        <p:spPr>
          <a:xfrm>
            <a:off x="9517380" y="249682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420">
                <a:solidFill>
                  <a:srgbClr val="0F172A"/>
                </a:solidFill>
              </a:rPr>
              <a:t>로그인 / 로그아웃</a:t>
            </a:r>
            <a:endParaRPr lang="ko-KR"/>
          </a:p>
        </p:txBody>
      </p:sp>
      <p:sp>
        <p:nvSpPr>
          <p:cNvPr id="32" name="Footer Note"/>
          <p:cNvSpPr txBox="1"/>
          <p:nvPr/>
        </p:nvSpPr>
        <p:spPr>
          <a:xfrm>
            <a:off x="1554480" y="5608320"/>
            <a:ext cx="90830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ko-KR" sz="1350">
                <a:solidFill>
                  <a:srgbClr val="0F172A"/>
                </a:solidFill>
              </a:rPr>
              <a:t>상세 화면은 상단 메뉴가 아니라 목록, 큐, 대시보드 row에서 drill-down으로 진입</a:t>
            </a:r>
            <a:endParaRPr lang="ko-KR"/>
          </a:p>
        </p:txBody>
      </p:sp>
      <p:sp>
        <p:nvSpPr>
          <p:cNvPr id="33" name="Line 33"/>
          <p:cNvSpPr/>
          <p:nvPr/>
        </p:nvSpPr>
        <p:spPr>
          <a:xfrm>
            <a:off x="6096000" y="64008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645920" y="777240"/>
            <a:ext cx="445008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645920" y="77724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6096000" y="64008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5433060" y="777240"/>
            <a:ext cx="66294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433060" y="77724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6096000" y="64008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6096000" y="777240"/>
            <a:ext cx="447294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10568940" y="777240"/>
            <a:ext cx="1" cy="13716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5433060" y="1325880"/>
            <a:ext cx="1" cy="4572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3810000" y="1371600"/>
            <a:ext cx="162306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3810000" y="1371600"/>
            <a:ext cx="1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5433060" y="1325880"/>
            <a:ext cx="1" cy="4572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5273040" y="1371600"/>
            <a:ext cx="16002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5273040" y="1371600"/>
            <a:ext cx="1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5433060" y="1325880"/>
            <a:ext cx="1" cy="4572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5433060" y="1371600"/>
            <a:ext cx="130302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6736080" y="1371600"/>
            <a:ext cx="1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5433060" y="1325880"/>
            <a:ext cx="1" cy="4572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5433060" y="1371600"/>
            <a:ext cx="2766060" cy="1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199120" y="1371600"/>
            <a:ext cx="1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1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MDMS Preproduct Menu Map</dc:title>
  <dc:creator>OpenAI Codex</dc:creator>
  <cp:lastModifiedBy>OpenAI Codex</cp:lastModifiedBy>
  <dcterms:created xsi:type="dcterms:W3CDTF">2026-06-07T10:12:10Z</dcterms:created>
  <dcterms:modified xsi:type="dcterms:W3CDTF">2026-06-07T10:12:10Z</dcterms:modified>
</cp:coreProperties>
</file>