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/Relationship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lide1_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slide2_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slide3_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slide4_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lide5_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slide6_image1.png"/><Relationship Id="rId2" Type="http://schemas.openxmlformats.org/officeDocument/2006/relationships/image" Target="../media/slide6_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slide7_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slide8_image1.png"/><Relationship Id="rId2" Type="http://schemas.openxmlformats.org/officeDocument/2006/relationships/image" Target="../media/slide8_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slide9_image1.png"/><Relationship Id="rId2" Type="http://schemas.openxmlformats.org/officeDocument/2006/relationships/image" Target="../media/slide9_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slide10_image1.png"/><Relationship Id="rId2" Type="http://schemas.openxmlformats.org/officeDocument/2006/relationships/image" Target="../media/slide10_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slide11_image1.png"/><Relationship Id="rId2" Type="http://schemas.openxmlformats.org/officeDocument/2006/relationships/image" Target="../media/slide11_image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slide12_image1.png"/><Relationship Id="rId2" Type="http://schemas.openxmlformats.org/officeDocument/2006/relationships/image" Target="../media/slide12_image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slide13_image1.png"/><Relationship Id="rId2" Type="http://schemas.openxmlformats.org/officeDocument/2006/relationships/image" Target="../media/slide13_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slide14_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1. Title and scope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title</a:t>
            </a:r>
            <a:endParaRPr lang="ko-KR"/>
          </a:p>
          <a:p>
            <a:r>
              <a:rPr lang="ko-KR" sz="1700"/>
              <a:t>  - MDMS Preproduct Operator Manual</a:t>
            </a:r>
            <a:endParaRPr lang="ko-KR"/>
          </a:p>
          <a:p>
            <a:r>
              <a:rPr lang="ko-KR" sz="1700"/>
              <a:t>• subtitle</a:t>
            </a:r>
            <a:endParaRPr lang="ko-KR"/>
          </a:p>
          <a:p>
            <a:r>
              <a:rPr lang="ko-KR" sz="1700"/>
              <a:t>  - bounded internal-use operating guide</a:t>
            </a:r>
            <a:endParaRPr lang="ko-KR"/>
          </a:p>
          <a:p>
            <a:r>
              <a:rPr lang="ko-KR" sz="1700"/>
              <a:t>• speaker focus</a:t>
            </a:r>
            <a:endParaRPr lang="ko-KR"/>
          </a:p>
          <a:p>
            <a:r>
              <a:rPr lang="ko-KR" sz="1700"/>
              <a:t>  - what this system currently supports</a:t>
            </a:r>
            <a:endParaRPr lang="ko-KR"/>
          </a:p>
          <a:p>
            <a:r>
              <a:rPr lang="ko-KR" sz="1700"/>
              <a:t>  - who should use admin versus operator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운영 시작 기준 화면</a:t>
            </a:r>
            <a:endParaRPr lang="ko-KR"/>
          </a:p>
        </p:txBody>
      </p:sp>
      <p:pic>
        <p:nvPicPr>
          <p:cNvPr id="5" name="02-dashboard-norm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309" y="2057400"/>
            <a:ext cx="1707582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2. System at a glance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PostgreSQL</a:t>
            </a:r>
            <a:endParaRPr lang="ko-KR"/>
          </a:p>
          <a:p>
            <a:r>
              <a:rPr lang="ko-KR" sz="1700"/>
              <a:t>• Flask web UI</a:t>
            </a:r>
            <a:endParaRPr lang="ko-KR"/>
          </a:p>
          <a:p>
            <a:r>
              <a:rPr lang="ko-KR" sz="1700"/>
              <a:t>• adapter queue commands</a:t>
            </a:r>
            <a:endParaRPr lang="ko-KR"/>
          </a:p>
          <a:p>
            <a:r>
              <a:rPr lang="ko-KR" sz="1700"/>
              <a:t>• HES, adapter, VEE, replay, export, and operational-event as the main operator</a:t>
            </a:r>
            <a:endParaRPr lang="ko-KR"/>
          </a:p>
          <a:p>
            <a:r>
              <a:rPr lang="ko-KR" sz="1700"/>
              <a:t>objects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시스템 전반 요약</a:t>
            </a:r>
            <a:endParaRPr lang="ko-KR"/>
          </a:p>
        </p:txBody>
      </p:sp>
      <p:pic>
        <p:nvPicPr>
          <p:cNvPr id="5" name="02-dashboard-norm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309" y="2057400"/>
            <a:ext cx="1707582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3. Startup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verify PostgreSQL</a:t>
            </a:r>
            <a:endParaRPr lang="ko-KR"/>
          </a:p>
          <a:p>
            <a:r>
              <a:rPr lang="ko-KR" sz="1700"/>
              <a:t>• activate environment</a:t>
            </a:r>
            <a:endParaRPr lang="ko-KR"/>
          </a:p>
          <a:p>
            <a:r>
              <a:rPr lang="ko-KR" sz="1700"/>
              <a:t>• first-time bootstrap commands only when needed</a:t>
            </a:r>
            <a:endParaRPr lang="ko-KR"/>
          </a:p>
          <a:p>
            <a:r>
              <a:rPr lang="ko-KR" sz="1700"/>
              <a:t>• start make run</a:t>
            </a:r>
            <a:endParaRPr lang="ko-KR"/>
          </a:p>
          <a:p>
            <a:r>
              <a:rPr lang="ko-KR" sz="1700"/>
              <a:t>• run adapter queue commands in separate shells when needed</a:t>
            </a:r>
            <a:endParaRPr lang="ko-KR"/>
          </a:p>
          <a:p>
            <a:r>
              <a:rPr lang="ko-KR" sz="1700"/>
              <a:t>• post-start checks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운영자 로그인 진입점</a:t>
            </a:r>
            <a:endParaRPr lang="ko-KR"/>
          </a:p>
        </p:txBody>
      </p:sp>
      <p:pic>
        <p:nvPicPr>
          <p:cNvPr id="5" name="01-log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2917" y="2057400"/>
            <a:ext cx="4232365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4. Shutdown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check in-flight replay, export, and adapter work</a:t>
            </a:r>
            <a:endParaRPr lang="ko-KR"/>
          </a:p>
          <a:p>
            <a:r>
              <a:rPr lang="ko-KR" sz="1700"/>
              <a:t>• stop worker shells first</a:t>
            </a:r>
            <a:endParaRPr lang="ko-KR"/>
          </a:p>
          <a:p>
            <a:r>
              <a:rPr lang="ko-KR" sz="1700"/>
              <a:t>• stop Flask</a:t>
            </a:r>
            <a:endParaRPr lang="ko-KR"/>
          </a:p>
          <a:p>
            <a:r>
              <a:rPr lang="ko-KR" sz="1700"/>
              <a:t>• stop PostgreSQL only when appropriate</a:t>
            </a:r>
            <a:endParaRPr lang="ko-KR"/>
          </a:p>
          <a:p>
            <a:r>
              <a:rPr lang="ko-KR" sz="1700"/>
              <a:t>• restart after abnormal stop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진행 중 요청 확인 예시</a:t>
            </a:r>
            <a:endParaRPr lang="ko-KR"/>
          </a:p>
        </p:txBody>
      </p:sp>
      <p:pic>
        <p:nvPicPr>
          <p:cNvPr id="5" name="15-replay-reques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664" y="2057400"/>
            <a:ext cx="3202871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5. Daily opening checklist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log in</a:t>
            </a:r>
            <a:endParaRPr lang="ko-KR"/>
          </a:p>
          <a:p>
            <a:r>
              <a:rPr lang="ko-KR" sz="1700"/>
              <a:t>• open dashboard</a:t>
            </a:r>
            <a:endParaRPr lang="ko-KR"/>
          </a:p>
          <a:p>
            <a:r>
              <a:rPr lang="ko-KR" sz="1700"/>
              <a:t>• review open alerts</a:t>
            </a:r>
            <a:endParaRPr lang="ko-KR"/>
          </a:p>
          <a:p>
            <a:r>
              <a:rPr lang="ko-KR" sz="1700"/>
              <a:t>• review recent operational events</a:t>
            </a:r>
            <a:endParaRPr lang="ko-KR"/>
          </a:p>
          <a:p>
            <a:r>
              <a:rPr lang="ko-KR" sz="1700"/>
              <a:t>• identify stale adapters, failed replay, failed export, or blocking VEE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우선 확인 대상이 있는 대시보드</a:t>
            </a:r>
            <a:endParaRPr lang="ko-KR"/>
          </a:p>
        </p:txBody>
      </p:sp>
      <p:pic>
        <p:nvPicPr>
          <p:cNvPr id="5" name="03-dashboard-atten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9555" y="2057400"/>
            <a:ext cx="1639090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6. HES and adapter operations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HES list and detail</a:t>
            </a:r>
            <a:endParaRPr lang="ko-KR"/>
          </a:p>
          <a:p>
            <a:r>
              <a:rPr lang="ko-KR" sz="1700"/>
              <a:t>• adapter list and detail</a:t>
            </a:r>
            <a:endParaRPr lang="ko-KR"/>
          </a:p>
          <a:p>
            <a:r>
              <a:rPr lang="ko-KR" sz="1700"/>
              <a:t>• Enable, Pause, Run Once</a:t>
            </a:r>
            <a:endParaRPr lang="ko-KR"/>
          </a:p>
          <a:p>
            <a:r>
              <a:rPr lang="ko-KR" sz="1700"/>
              <a:t>• runtime versus human actor interpretation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HES 상세</a:t>
            </a:r>
            <a:endParaRPr lang="ko-KR"/>
          </a:p>
        </p:txBody>
      </p:sp>
      <p:pic>
        <p:nvPicPr>
          <p:cNvPr id="5" name="04-hes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7357" y="2057400"/>
            <a:ext cx="1763485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어댑터 상세</a:t>
            </a:r>
            <a:endParaRPr lang="ko-KR"/>
          </a:p>
        </p:txBody>
      </p:sp>
      <p:pic>
        <p:nvPicPr>
          <p:cNvPr id="7" name="05-adapt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7. Master data minimum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service point</a:t>
            </a:r>
            <a:endParaRPr lang="ko-KR"/>
          </a:p>
          <a:p>
            <a:r>
              <a:rPr lang="ko-KR" sz="1700"/>
              <a:t>• device</a:t>
            </a:r>
            <a:endParaRPr lang="ko-KR"/>
          </a:p>
          <a:p>
            <a:r>
              <a:rPr lang="ko-KR" sz="1700"/>
              <a:t>• measuring component</a:t>
            </a:r>
            <a:endParaRPr lang="ko-KR"/>
          </a:p>
          <a:p>
            <a:r>
              <a:rPr lang="ko-KR" sz="1700"/>
              <a:t>• installation history</a:t>
            </a:r>
            <a:endParaRPr lang="ko-KR"/>
          </a:p>
          <a:p>
            <a:r>
              <a:rPr lang="ko-KR" sz="1700"/>
              <a:t>• why mapping fails when these are missing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기본 마스터 데이터와 actor visibility</a:t>
            </a:r>
            <a:endParaRPr lang="ko-KR"/>
          </a:p>
        </p:txBody>
      </p:sp>
      <p:pic>
        <p:nvPicPr>
          <p:cNvPr id="5" name="06-master-dat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2497931"/>
            <a:ext cx="7391400" cy="3233737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8. Raw, canonical, and final lineage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review raw reads and raw events first</a:t>
            </a:r>
            <a:endParaRPr lang="ko-KR"/>
          </a:p>
          <a:p>
            <a:r>
              <a:rPr lang="ko-KR" sz="1700"/>
              <a:t>• confirm canonical progression</a:t>
            </a:r>
            <a:endParaRPr lang="ko-KR"/>
          </a:p>
          <a:p>
            <a:r>
              <a:rPr lang="ko-KR" sz="1700"/>
              <a:t>• confirm final authoritative state</a:t>
            </a:r>
            <a:endParaRPr lang="ko-KR"/>
          </a:p>
          <a:p>
            <a:r>
              <a:rPr lang="ko-KR" sz="1700"/>
              <a:t>• use lineage screens to trace one sample end to end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원시 검침 가시성</a:t>
            </a:r>
            <a:endParaRPr lang="ko-KR"/>
          </a:p>
        </p:txBody>
      </p:sp>
      <p:pic>
        <p:nvPicPr>
          <p:cNvPr id="5" name="07-raw-read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7357" y="2057400"/>
            <a:ext cx="1763485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최종 계측 가시성</a:t>
            </a:r>
            <a:endParaRPr lang="ko-KR"/>
          </a:p>
        </p:txBody>
      </p:sp>
      <p:pic>
        <p:nvPicPr>
          <p:cNvPr id="7" name="09-final-measu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9. VEE exception triage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start from the queue</a:t>
            </a:r>
            <a:endParaRPr lang="ko-KR"/>
          </a:p>
          <a:p>
            <a:r>
              <a:rPr lang="ko-KR" sz="1700"/>
              <a:t>• prioritize blocking items</a:t>
            </a:r>
            <a:endParaRPr lang="ko-KR"/>
          </a:p>
          <a:p>
            <a:r>
              <a:rPr lang="ko-KR" sz="1700"/>
              <a:t>• use detail view for blocked reason, event context, and next action</a:t>
            </a:r>
            <a:endParaRPr lang="ko-KR"/>
          </a:p>
          <a:p>
            <a:r>
              <a:rPr lang="ko-KR" sz="1700"/>
              <a:t>• understand re-evaluate versus correction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VEE 예외 큐</a:t>
            </a:r>
            <a:endParaRPr lang="ko-KR"/>
          </a:p>
        </p:txBody>
      </p:sp>
      <p:pic>
        <p:nvPicPr>
          <p:cNvPr id="5" name="10-vee-exception-que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7357" y="2057400"/>
            <a:ext cx="1763485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VEE 예외 상세</a:t>
            </a:r>
            <a:endParaRPr lang="ko-KR"/>
          </a:p>
        </p:txBody>
      </p:sp>
      <p:pic>
        <p:nvPicPr>
          <p:cNvPr id="7" name="11-vee-excep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10. Estimation and manual edit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when to use each correction path</a:t>
            </a:r>
            <a:endParaRPr lang="ko-KR"/>
          </a:p>
          <a:p>
            <a:r>
              <a:rPr lang="ko-KR" sz="1700"/>
              <a:t>• what to confirm after execution</a:t>
            </a:r>
            <a:endParaRPr lang="ko-KR"/>
          </a:p>
          <a:p>
            <a:r>
              <a:rPr lang="ko-KR" sz="1700"/>
              <a:t>• audit detail, actor lineage, memo, result code, and downstream impact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추정 감사 상세</a:t>
            </a:r>
            <a:endParaRPr lang="ko-KR"/>
          </a:p>
        </p:txBody>
      </p:sp>
      <p:pic>
        <p:nvPicPr>
          <p:cNvPr id="5" name="12-estimation-audi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7025" y="2057400"/>
            <a:ext cx="1104150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수동 보정 감사 상세</a:t>
            </a:r>
            <a:endParaRPr lang="ko-KR"/>
          </a:p>
        </p:txBody>
      </p:sp>
      <p:pic>
        <p:nvPicPr>
          <p:cNvPr id="7" name="13-manual-edit-audi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029" y="4457700"/>
            <a:ext cx="1318142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11. Replay and billing export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replay request create, monitor, and cancel</a:t>
            </a:r>
            <a:endParaRPr lang="ko-KR"/>
          </a:p>
          <a:p>
            <a:r>
              <a:rPr lang="ko-KR" sz="1700"/>
              <a:t>• billing export create, inspect, rerun, recreate, or cancel</a:t>
            </a:r>
            <a:endParaRPr lang="ko-KR"/>
          </a:p>
          <a:p>
            <a:r>
              <a:rPr lang="ko-KR" sz="1700"/>
              <a:t>• processing state versus failed state versus quiet state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재평가 요청 상세</a:t>
            </a:r>
            <a:endParaRPr lang="ko-KR"/>
          </a:p>
        </p:txBody>
      </p:sp>
      <p:pic>
        <p:nvPicPr>
          <p:cNvPr id="5" name="15-replay-reques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1835" y="2057400"/>
            <a:ext cx="1334529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청구 내보내기 요청 상세</a:t>
            </a:r>
            <a:endParaRPr lang="ko-KR"/>
          </a:p>
        </p:txBody>
      </p:sp>
      <p:pic>
        <p:nvPicPr>
          <p:cNvPr id="7" name="17-billing-export-reques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460" y="4457700"/>
            <a:ext cx="717280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12. Operational events and accountability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operational-event timeline</a:t>
            </a:r>
            <a:endParaRPr lang="ko-KR"/>
          </a:p>
          <a:p>
            <a:r>
              <a:rPr lang="ko-KR" sz="1700"/>
              <a:t>• action snapshot</a:t>
            </a:r>
            <a:endParaRPr lang="ko-KR"/>
          </a:p>
          <a:p>
            <a:r>
              <a:rPr lang="ko-KR" sz="1700"/>
              <a:t>• created actor and updated actor on admin-managed rows</a:t>
            </a:r>
            <a:endParaRPr lang="ko-KR"/>
          </a:p>
          <a:p>
            <a:r>
              <a:rPr lang="ko-KR" sz="1700"/>
              <a:t>• user action audit evidence meaning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운영 이벤트 조치 스냅샷</a:t>
            </a:r>
            <a:endParaRPr lang="ko-KR"/>
          </a:p>
        </p:txBody>
      </p:sp>
      <p:pic>
        <p:nvPicPr>
          <p:cNvPr id="5" name="18-operational-even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8303" y="2057400"/>
            <a:ext cx="1561593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관리 row actor visibility</a:t>
            </a:r>
            <a:endParaRPr lang="ko-KR"/>
          </a:p>
        </p:txBody>
      </p:sp>
      <p:pic>
        <p:nvPicPr>
          <p:cNvPr id="7" name="06-master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9671" y="4457700"/>
            <a:ext cx="3918857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13. Incident quick guide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stale adapter</a:t>
            </a:r>
            <a:endParaRPr lang="ko-KR"/>
          </a:p>
          <a:p>
            <a:r>
              <a:rPr lang="ko-KR" sz="1700"/>
              <a:t>• failed replay</a:t>
            </a:r>
            <a:endParaRPr lang="ko-KR"/>
          </a:p>
          <a:p>
            <a:r>
              <a:rPr lang="ko-KR" sz="1700"/>
              <a:t>• failed export</a:t>
            </a:r>
            <a:endParaRPr lang="ko-KR"/>
          </a:p>
          <a:p>
            <a:r>
              <a:rPr lang="ko-KR" sz="1700"/>
              <a:t>• blocking VEE</a:t>
            </a:r>
            <a:endParaRPr lang="ko-KR"/>
          </a:p>
          <a:p>
            <a:r>
              <a:rPr lang="ko-KR" sz="1700"/>
              <a:t>• missing master data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주의 필요 대시보드</a:t>
            </a:r>
            <a:endParaRPr lang="ko-KR"/>
          </a:p>
        </p:txBody>
      </p:sp>
      <p:pic>
        <p:nvPicPr>
          <p:cNvPr id="5" name="03-dashboard-atten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7623" y="2057400"/>
            <a:ext cx="682954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/>
              <a:t>런타임 점검 예시</a:t>
            </a:r>
            <a:endParaRPr lang="ko-KR"/>
          </a:p>
        </p:txBody>
      </p:sp>
      <p:pic>
        <p:nvPicPr>
          <p:cNvPr id="7" name="05-adapt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14. Daily closing and limitations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end-of-day checks</a:t>
            </a:r>
            <a:endParaRPr lang="ko-KR"/>
          </a:p>
          <a:p>
            <a:r>
              <a:rPr lang="ko-KR" sz="1700"/>
              <a:t>• whether to keep the local environment running</a:t>
            </a:r>
            <a:endParaRPr lang="ko-KR"/>
          </a:p>
          <a:p>
            <a:r>
              <a:rPr lang="ko-KR" sz="1700"/>
              <a:t>• current preproduct limitations</a:t>
            </a:r>
            <a:endParaRPr lang="ko-KR"/>
          </a:p>
          <a:p>
            <a:r>
              <a:rPr lang="ko-KR" sz="1700"/>
              <a:t>• escalation posture for repeated failures</a:t>
            </a:r>
            <a:endParaRPr lang="ko-KR"/>
          </a:p>
          <a:p>
            <a:r>
              <a:rPr lang="ko-KR" sz="1700"/>
              <a:t>## Packaging notes</a:t>
            </a:r>
            <a:endParaRPr lang="ko-KR"/>
          </a:p>
          <a:p>
            <a:r>
              <a:rPr lang="ko-KR" sz="1700"/>
              <a:t>For the first training deck:</a:t>
            </a:r>
            <a:endParaRPr lang="ko-KR"/>
          </a:p>
          <a:p>
            <a:r>
              <a:rPr lang="ko-KR" sz="1700"/>
              <a:t>• prefer Korean UI captures</a:t>
            </a:r>
            <a:endParaRPr lang="ko-KR"/>
          </a:p>
          <a:p>
            <a:r>
              <a:rPr lang="ko-KR" sz="1700"/>
              <a:t>• use the same account names consistently across screenshots</a:t>
            </a:r>
            <a:endParaRPr lang="ko-KR"/>
          </a:p>
          <a:p>
            <a:r>
              <a:rPr lang="ko-KR" sz="1700"/>
              <a:t>• mask secrets, credentials, and environment-specific identifiers</a:t>
            </a:r>
            <a:endParaRPr lang="ko-KR"/>
          </a:p>
          <a:p>
            <a:r>
              <a:rPr lang="ko-KR" sz="1700"/>
              <a:t>• keep one wide desktop viewport across the whole deck</a:t>
            </a:r>
            <a:endParaRPr lang="ko-KR"/>
          </a:p>
          <a:p>
            <a:r>
              <a:rPr lang="ko-KR" sz="1700"/>
              <a:t>• reserve space for captions that explain what the operator should look at first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/>
              <a:t>일일 마감 기준 화면</a:t>
            </a:r>
            <a:endParaRPr lang="ko-KR"/>
          </a:p>
        </p:txBody>
      </p:sp>
      <p:pic>
        <p:nvPicPr>
          <p:cNvPr id="5" name="02-dashboard-norm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309" y="2057400"/>
            <a:ext cx="1707582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  <PresentationFormat>On-screen Show (16:9)</PresentationFormat>
  <Slides>14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MDMS Preproduct Operator Training Draft</dc:title>
  <dc:creator>OpenAI Codex</dc:creator>
  <cp:lastModifiedBy>OpenAI Codex</cp:lastModifiedBy>
  <dcterms:created xsi:type="dcterms:W3CDTF">2026-05-27T09:16:31Z</dcterms:created>
  <dcterms:modified xsi:type="dcterms:W3CDTF">2026-05-27T09:16:31Z</dcterms:modified>
</cp:coreProperties>
</file>