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1. Title and scope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title</a:t>
            </a:r>
            <a:endParaRPr lang="ko-KR"/>
          </a:p>
          <a:p>
            <a:r>
              <a:rPr lang="ko-KR" sz="1700"/>
              <a:t>  - MDMS Preproduct Operator Manual</a:t>
            </a:r>
            <a:endParaRPr lang="ko-KR"/>
          </a:p>
          <a:p>
            <a:r>
              <a:rPr lang="ko-KR" sz="1700"/>
              <a:t>• subtitle</a:t>
            </a:r>
            <a:endParaRPr lang="ko-KR"/>
          </a:p>
          <a:p>
            <a:r>
              <a:rPr lang="ko-KR" sz="1700"/>
              <a:t>  - bounded internal-use operating guide</a:t>
            </a:r>
            <a:endParaRPr lang="ko-KR"/>
          </a:p>
          <a:p>
            <a:r>
              <a:rPr lang="ko-KR" sz="1700"/>
              <a:t>• speaker focus</a:t>
            </a:r>
            <a:endParaRPr lang="ko-KR"/>
          </a:p>
          <a:p>
            <a:r>
              <a:rPr lang="ko-KR" sz="1700"/>
              <a:t>  - what this system currently supports</a:t>
            </a:r>
            <a:endParaRPr lang="ko-KR"/>
          </a:p>
          <a:p>
            <a:r>
              <a:rPr lang="ko-KR" sz="1700"/>
              <a:t>  - who should use admin versus operator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cover slide only or a simple dashboard background image later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2. System at a glance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PostgreSQL</a:t>
            </a:r>
            <a:endParaRPr lang="ko-KR"/>
          </a:p>
          <a:p>
            <a:r>
              <a:rPr lang="ko-KR" sz="1700"/>
              <a:t>• Flask web UI</a:t>
            </a:r>
            <a:endParaRPr lang="ko-KR"/>
          </a:p>
          <a:p>
            <a:r>
              <a:rPr lang="ko-KR" sz="1700"/>
              <a:t>• adapter queue commands</a:t>
            </a:r>
            <a:endParaRPr lang="ko-KR"/>
          </a:p>
          <a:p>
            <a:r>
              <a:rPr lang="ko-KR" sz="1700"/>
              <a:t>• HES, adapter, VEE, replay, export, and operational-event as the main operator</a:t>
            </a:r>
            <a:endParaRPr lang="ko-KR"/>
          </a:p>
          <a:p>
            <a:r>
              <a:rPr lang="ko-KR" sz="1700"/>
              <a:t>objects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simple system block diagram or dashboard plus HES detail thumbnail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3. Startup procedure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verify PostgreSQL</a:t>
            </a:r>
            <a:endParaRPr lang="ko-KR"/>
          </a:p>
          <a:p>
            <a:r>
              <a:rPr lang="ko-KR" sz="1700"/>
              <a:t>• activate environment</a:t>
            </a:r>
            <a:endParaRPr lang="ko-KR"/>
          </a:p>
          <a:p>
            <a:r>
              <a:rPr lang="ko-KR" sz="1700"/>
              <a:t>• first-time bootstrap commands only when needed</a:t>
            </a:r>
            <a:endParaRPr lang="ko-KR"/>
          </a:p>
          <a:p>
            <a:r>
              <a:rPr lang="ko-KR" sz="1700"/>
              <a:t>• start make run</a:t>
            </a:r>
            <a:endParaRPr lang="ko-KR"/>
          </a:p>
          <a:p>
            <a:r>
              <a:rPr lang="ko-KR" sz="1700"/>
              <a:t>• run adapter queue commands in separate shells when needed</a:t>
            </a:r>
            <a:endParaRPr lang="ko-KR"/>
          </a:p>
          <a:p>
            <a:r>
              <a:rPr lang="ko-KR" sz="1700"/>
              <a:t>• post-start checks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terminal command snapshot plus login or health endpoint capture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4. Shutdown procedure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check in-flight replay, export, and adapter work</a:t>
            </a:r>
            <a:endParaRPr lang="ko-KR"/>
          </a:p>
          <a:p>
            <a:r>
              <a:rPr lang="ko-KR" sz="1700"/>
              <a:t>• stop worker shells first</a:t>
            </a:r>
            <a:endParaRPr lang="ko-KR"/>
          </a:p>
          <a:p>
            <a:r>
              <a:rPr lang="ko-KR" sz="1700"/>
              <a:t>• stop Flask</a:t>
            </a:r>
            <a:endParaRPr lang="ko-KR"/>
          </a:p>
          <a:p>
            <a:r>
              <a:rPr lang="ko-KR" sz="1700"/>
              <a:t>• stop PostgreSQL only when appropriate</a:t>
            </a:r>
            <a:endParaRPr lang="ko-KR"/>
          </a:p>
          <a:p>
            <a:r>
              <a:rPr lang="ko-KR" sz="1700"/>
              <a:t>• restart after abnormal stop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detail page showing processing state or a simple checklist panel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5. Daily opening checklist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log in</a:t>
            </a:r>
            <a:endParaRPr lang="ko-KR"/>
          </a:p>
          <a:p>
            <a:r>
              <a:rPr lang="ko-KR" sz="1700"/>
              <a:t>• open dashboard</a:t>
            </a:r>
            <a:endParaRPr lang="ko-KR"/>
          </a:p>
          <a:p>
            <a:r>
              <a:rPr lang="ko-KR" sz="1700"/>
              <a:t>• review open alerts</a:t>
            </a:r>
            <a:endParaRPr lang="ko-KR"/>
          </a:p>
          <a:p>
            <a:r>
              <a:rPr lang="ko-KR" sz="1700"/>
              <a:t>• review recent operational events</a:t>
            </a:r>
            <a:endParaRPr lang="ko-KR"/>
          </a:p>
          <a:p>
            <a:r>
              <a:rPr lang="ko-KR" sz="1700"/>
              <a:t>• identify stale adapters, failed replay, failed export, or blocking VEE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dashboard with alert and event sections visible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6. HES and adapter operations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HES list and detail</a:t>
            </a:r>
            <a:endParaRPr lang="ko-KR"/>
          </a:p>
          <a:p>
            <a:r>
              <a:rPr lang="ko-KR" sz="1700"/>
              <a:t>• adapter list and detail</a:t>
            </a:r>
            <a:endParaRPr lang="ko-KR"/>
          </a:p>
          <a:p>
            <a:r>
              <a:rPr lang="ko-KR" sz="1700"/>
              <a:t>• Enable, Pause, Run Once</a:t>
            </a:r>
            <a:endParaRPr lang="ko-KR"/>
          </a:p>
          <a:p>
            <a:r>
              <a:rPr lang="ko-KR" sz="1700"/>
              <a:t>• runtime versus human actor interpretation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HES detail and adapter detail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7. Master data minimum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service point</a:t>
            </a:r>
            <a:endParaRPr lang="ko-KR"/>
          </a:p>
          <a:p>
            <a:r>
              <a:rPr lang="ko-KR" sz="1700"/>
              <a:t>• device</a:t>
            </a:r>
            <a:endParaRPr lang="ko-KR"/>
          </a:p>
          <a:p>
            <a:r>
              <a:rPr lang="ko-KR" sz="1700"/>
              <a:t>• measuring component</a:t>
            </a:r>
            <a:endParaRPr lang="ko-KR"/>
          </a:p>
          <a:p>
            <a:r>
              <a:rPr lang="ko-KR" sz="1700"/>
              <a:t>• installation history</a:t>
            </a:r>
            <a:endParaRPr lang="ko-KR"/>
          </a:p>
          <a:p>
            <a:r>
              <a:rPr lang="ko-KR" sz="1700"/>
              <a:t>• why mapping fails when these are missing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master-data page with actor visibility and empty-state guidance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8. Raw, canonical, and final lineage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review raw reads and raw events first</a:t>
            </a:r>
            <a:endParaRPr lang="ko-KR"/>
          </a:p>
          <a:p>
            <a:r>
              <a:rPr lang="ko-KR" sz="1700"/>
              <a:t>• confirm canonical progression</a:t>
            </a:r>
            <a:endParaRPr lang="ko-KR"/>
          </a:p>
          <a:p>
            <a:r>
              <a:rPr lang="ko-KR" sz="1700"/>
              <a:t>• confirm final authoritative state</a:t>
            </a:r>
            <a:endParaRPr lang="ko-KR"/>
          </a:p>
          <a:p>
            <a:r>
              <a:rPr lang="ko-KR" sz="1700"/>
              <a:t>• use lineage screens to trace one sample end to end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canonical or final measurement detail/list capture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9. VEE exception triage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start from the queue</a:t>
            </a:r>
            <a:endParaRPr lang="ko-KR"/>
          </a:p>
          <a:p>
            <a:r>
              <a:rPr lang="ko-KR" sz="1700"/>
              <a:t>• prioritize blocking items</a:t>
            </a:r>
            <a:endParaRPr lang="ko-KR"/>
          </a:p>
          <a:p>
            <a:r>
              <a:rPr lang="ko-KR" sz="1700"/>
              <a:t>• use detail view for blocked reason, event context, and next action</a:t>
            </a:r>
            <a:endParaRPr lang="ko-KR"/>
          </a:p>
          <a:p>
            <a:r>
              <a:rPr lang="ko-KR" sz="1700"/>
              <a:t>• understand re-evaluate versus correction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VEE exception queue and detail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10. Estimation and manual edit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when to use each correction path</a:t>
            </a:r>
            <a:endParaRPr lang="ko-KR"/>
          </a:p>
          <a:p>
            <a:r>
              <a:rPr lang="ko-KR" sz="1700"/>
              <a:t>• what to confirm after execution</a:t>
            </a:r>
            <a:endParaRPr lang="ko-KR"/>
          </a:p>
          <a:p>
            <a:r>
              <a:rPr lang="ko-KR" sz="1700"/>
              <a:t>• audit detail, actor lineage, memo, result code, and downstream impact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estimation audit detail and manual-edit audit detail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11. Replay and billing export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replay request create, monitor, and cancel</a:t>
            </a:r>
            <a:endParaRPr lang="ko-KR"/>
          </a:p>
          <a:p>
            <a:r>
              <a:rPr lang="ko-KR" sz="1700"/>
              <a:t>• billing export create, inspect, rerun, recreate, or cancel</a:t>
            </a:r>
            <a:endParaRPr lang="ko-KR"/>
          </a:p>
          <a:p>
            <a:r>
              <a:rPr lang="ko-KR" sz="1700"/>
              <a:t>• processing state versus failed state versus quiet state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replay request detail and billing export request detail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12. Operational events and accountability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operational-event timeline</a:t>
            </a:r>
            <a:endParaRPr lang="ko-KR"/>
          </a:p>
          <a:p>
            <a:r>
              <a:rPr lang="ko-KR" sz="1700"/>
              <a:t>• action snapshot</a:t>
            </a:r>
            <a:endParaRPr lang="ko-KR"/>
          </a:p>
          <a:p>
            <a:r>
              <a:rPr lang="ko-KR" sz="1700"/>
              <a:t>• created actor and updated actor on admin-managed rows</a:t>
            </a:r>
            <a:endParaRPr lang="ko-KR"/>
          </a:p>
          <a:p>
            <a:r>
              <a:rPr lang="ko-KR" sz="1700"/>
              <a:t>• user action audit evidence meaning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operational-event detail plus HES or master-data actor visibility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13. Incident quick guide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stale adapter</a:t>
            </a:r>
            <a:endParaRPr lang="ko-KR"/>
          </a:p>
          <a:p>
            <a:r>
              <a:rPr lang="ko-KR" sz="1700"/>
              <a:t>• failed replay</a:t>
            </a:r>
            <a:endParaRPr lang="ko-KR"/>
          </a:p>
          <a:p>
            <a:r>
              <a:rPr lang="ko-KR" sz="1700"/>
              <a:t>• failed export</a:t>
            </a:r>
            <a:endParaRPr lang="ko-KR"/>
          </a:p>
          <a:p>
            <a:r>
              <a:rPr lang="ko-KR" sz="1700"/>
              <a:t>• blocking VEE</a:t>
            </a:r>
            <a:endParaRPr lang="ko-KR"/>
          </a:p>
          <a:p>
            <a:r>
              <a:rPr lang="ko-KR" sz="1700"/>
              <a:t>• missing master data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two-column quick triage table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14. Daily closing and limitations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end-of-day checks</a:t>
            </a:r>
            <a:endParaRPr lang="ko-KR"/>
          </a:p>
          <a:p>
            <a:r>
              <a:rPr lang="ko-KR" sz="1700"/>
              <a:t>• whether to keep the local environment running</a:t>
            </a:r>
            <a:endParaRPr lang="ko-KR"/>
          </a:p>
          <a:p>
            <a:r>
              <a:rPr lang="ko-KR" sz="1700"/>
              <a:t>• current preproduct limitations</a:t>
            </a:r>
            <a:endParaRPr lang="ko-KR"/>
          </a:p>
          <a:p>
            <a:r>
              <a:rPr lang="ko-KR" sz="1700"/>
              <a:t>• escalation posture for repeated failures</a:t>
            </a:r>
            <a:endParaRPr lang="ko-KR"/>
          </a:p>
          <a:p>
            <a:r>
              <a:rPr lang="ko-KR" sz="1700"/>
              <a:t>## Packaging notes</a:t>
            </a:r>
            <a:endParaRPr lang="ko-KR"/>
          </a:p>
          <a:p>
            <a:r>
              <a:rPr lang="ko-KR" sz="1700"/>
              <a:t>For the first training deck:</a:t>
            </a:r>
            <a:endParaRPr lang="ko-KR"/>
          </a:p>
          <a:p>
            <a:r>
              <a:rPr lang="ko-KR" sz="1700"/>
              <a:t>• prefer Korean UI captures</a:t>
            </a:r>
            <a:endParaRPr lang="ko-KR"/>
          </a:p>
          <a:p>
            <a:r>
              <a:rPr lang="ko-KR" sz="1700"/>
              <a:t>• use the same account names consistently across screenshots</a:t>
            </a:r>
            <a:endParaRPr lang="ko-KR"/>
          </a:p>
          <a:p>
            <a:r>
              <a:rPr lang="ko-KR" sz="1700"/>
              <a:t>• mask secrets, credentials, and environment-specific identifiers</a:t>
            </a:r>
            <a:endParaRPr lang="ko-KR"/>
          </a:p>
          <a:p>
            <a:r>
              <a:rPr lang="ko-KR" sz="1700"/>
              <a:t>• keep one wide desktop viewport across the whole deck</a:t>
            </a:r>
            <a:endParaRPr lang="ko-KR"/>
          </a:p>
          <a:p>
            <a:r>
              <a:rPr lang="ko-KR" sz="1700"/>
              <a:t>• reserve space for captions that explain what the operator should look at first</a:t>
            </a:r>
            <a:endParaRPr lang="ko-KR"/>
          </a:p>
        </p:txBody>
      </p:sp>
      <p:sp>
        <p:nvSpPr>
          <p:cNvPr id="4" name="Visual Placeholder"/>
          <p:cNvSpPr txBox="1"/>
          <p:nvPr/>
        </p:nvSpPr>
        <p:spPr>
          <a:xfrm>
            <a:off x="4343400" y="1600200"/>
            <a:ext cx="7391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600"/>
              <a:t>Screen Capture Placeholder</a:t>
            </a:r>
            <a:endParaRPr lang="ko-KR"/>
          </a:p>
          <a:p>
            <a:endParaRPr lang="ko-KR"/>
          </a:p>
          <a:p>
            <a:r>
              <a:rPr lang="ko-KR" sz="1600"/>
              <a:t>• closing checklist or known-limitations summary</a:t>
            </a:r>
            <a:endParaRPr 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14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MDMS Preproduct Operator Training Draft</dc:title>
  <dc:creator>OpenAI Codex</dc:creator>
  <cp:lastModifiedBy>OpenAI Codex</cp:lastModifiedBy>
  <dcterms:created xsi:type="dcterms:W3CDTF">2026-05-27T01:38:45Z</dcterms:created>
  <dcterms:modified xsi:type="dcterms:W3CDTF">2026-05-27T01:38:45Z</dcterms:modified>
</cp:coreProperties>
</file>